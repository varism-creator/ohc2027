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287000" cy="18288000"/>
  <p:notesSz cx="6858000" cy="9144000"/>
  <p:embeddedFontLst>
    <p:embeddedFont>
      <p:font typeface="League Spartan"/>
      <p:regular r:id="rId3"/>
      <p:bold r:id="rId4"/>
    </p:embeddedFont>
    <p:embeddedFont>
      <p:font typeface="Montserrat Bold Italics"/>
      <p:regular r:id="rId5"/>
      <p:bold r:id="rId6"/>
      <p:italic r:id="rId7"/>
      <p:boldItalic r:id="rId8"/>
    </p:embeddedFont>
    <p:embeddedFont>
      <p:font typeface="Roboto Bold" panose="0200000000000000000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848"/>
    <a:srgbClr val="051F25"/>
    <a:srgbClr val="0E4B4D"/>
    <a:srgbClr val="00E8ED"/>
    <a:srgbClr val="009193"/>
    <a:srgbClr val="175479"/>
    <a:srgbClr val="797979"/>
    <a:srgbClr val="907C41"/>
    <a:srgbClr val="FFDA70"/>
    <a:srgbClr val="054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94" autoAdjust="0"/>
    <p:restoredTop sz="95033" autoAdjust="0"/>
  </p:normalViewPr>
  <p:slideViewPr>
    <p:cSldViewPr>
      <p:cViewPr varScale="1">
        <p:scale>
          <a:sx n="50" d="100"/>
          <a:sy n="50" d="100"/>
        </p:scale>
        <p:origin x="111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E511C60E-BB80-ACF1-9309-B85937A456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3595" y="-55146"/>
            <a:ext cx="10375900" cy="359314"/>
          </a:xfrm>
          <a:custGeom>
            <a:avLst/>
            <a:gdLst/>
            <a:ahLst/>
            <a:cxnLst/>
            <a:rect l="l" t="t" r="r" b="b"/>
            <a:pathLst>
              <a:path w="11468405" h="119771">
                <a:moveTo>
                  <a:pt x="0" y="0"/>
                </a:moveTo>
                <a:lnTo>
                  <a:pt x="11468405" y="0"/>
                </a:lnTo>
                <a:lnTo>
                  <a:pt x="11468405" y="119771"/>
                </a:lnTo>
                <a:lnTo>
                  <a:pt x="0" y="119771"/>
                </a:lnTo>
                <a:close/>
              </a:path>
            </a:pathLst>
          </a:custGeom>
          <a:gradFill rotWithShape="1">
            <a:gsLst>
              <a:gs pos="0">
                <a:srgbClr val="0B2545">
                  <a:alpha val="100000"/>
                </a:srgbClr>
              </a:gs>
              <a:gs pos="50000">
                <a:srgbClr val="179BA3">
                  <a:alpha val="100000"/>
                </a:srgbClr>
              </a:gs>
              <a:gs pos="100000">
                <a:srgbClr val="FFD36C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th-TH" dirty="0"/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3F2E478D-90B4-7847-5DD6-677F5AD1706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800100" y="17187253"/>
            <a:ext cx="11262709" cy="1253147"/>
            <a:chOff x="0" y="-1"/>
            <a:chExt cx="15016945" cy="1670861"/>
          </a:xfrm>
        </p:grpSpPr>
        <p:grpSp>
          <p:nvGrpSpPr>
            <p:cNvPr id="4" name="Group 7">
              <a:extLst>
                <a:ext uri="{FF2B5EF4-FFF2-40B4-BE49-F238E27FC236}">
                  <a16:creationId xmlns:a16="http://schemas.microsoft.com/office/drawing/2014/main" id="{A6C6C4C6-565C-A230-82CD-48B68420A48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-1"/>
              <a:ext cx="15016945" cy="1670861"/>
              <a:chOff x="0" y="-113152"/>
              <a:chExt cx="13061495" cy="1453287"/>
            </a:xfrm>
          </p:grpSpPr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A043EF94-9C6E-3407-631F-73F291DC76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5731" y="-113152"/>
                <a:ext cx="12054261" cy="1330611"/>
              </a:xfrm>
              <a:custGeom>
                <a:avLst/>
                <a:gdLst/>
                <a:ahLst/>
                <a:cxnLst/>
                <a:rect l="l" t="t" r="r" b="b"/>
                <a:pathLst>
                  <a:path w="13061496" h="1340135">
                    <a:moveTo>
                      <a:pt x="0" y="0"/>
                    </a:moveTo>
                    <a:lnTo>
                      <a:pt x="13061496" y="0"/>
                    </a:lnTo>
                    <a:lnTo>
                      <a:pt x="13061496" y="1340135"/>
                    </a:lnTo>
                    <a:lnTo>
                      <a:pt x="0" y="1340135"/>
                    </a:lnTo>
                    <a:close/>
                  </a:path>
                </a:pathLst>
              </a:custGeom>
              <a:gradFill>
                <a:gsLst>
                  <a:gs pos="20000">
                    <a:srgbClr val="086576"/>
                  </a:gs>
                  <a:gs pos="0">
                    <a:srgbClr val="0B2545"/>
                  </a:gs>
                  <a:gs pos="59000">
                    <a:srgbClr val="129299"/>
                  </a:gs>
                  <a:gs pos="88000">
                    <a:srgbClr val="FFDA70"/>
                  </a:gs>
                </a:gsLst>
                <a:lin ang="14400000" scaled="0"/>
              </a:gradFill>
            </p:spPr>
            <p:txBody>
              <a:bodyPr/>
              <a:lstStyle/>
              <a:p>
                <a:endParaRPr lang="th-TH" dirty="0"/>
              </a:p>
            </p:txBody>
          </p:sp>
          <p:sp>
            <p:nvSpPr>
              <p:cNvPr id="14" name="TextBox 9">
                <a:extLst>
                  <a:ext uri="{FF2B5EF4-FFF2-40B4-BE49-F238E27FC236}">
                    <a16:creationId xmlns:a16="http://schemas.microsoft.com/office/drawing/2014/main" id="{903085FB-F48E-9194-6B7E-96B55D68D52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9525"/>
                <a:ext cx="13061495" cy="1330610"/>
              </a:xfrm>
              <a:prstGeom prst="rect">
                <a:avLst/>
              </a:prstGeom>
            </p:spPr>
            <p:txBody>
              <a:bodyPr lIns="7849" tIns="7849" rIns="7849" bIns="7849" rtlCol="0" anchor="ctr"/>
              <a:lstStyle/>
              <a:p>
                <a:pPr algn="ctr">
                  <a:lnSpc>
                    <a:spcPts val="370"/>
                  </a:lnSpc>
                </a:pPr>
                <a:endParaRPr/>
              </a:p>
            </p:txBody>
          </p:sp>
        </p:grpSp>
        <p:sp>
          <p:nvSpPr>
            <p:cNvPr id="5" name="AutoShape 10">
              <a:extLst>
                <a:ext uri="{FF2B5EF4-FFF2-40B4-BE49-F238E27FC236}">
                  <a16:creationId xmlns:a16="http://schemas.microsoft.com/office/drawing/2014/main" id="{1D272977-1803-DDE3-5F39-8369FC2907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1504692" y="998180"/>
              <a:ext cx="3431626" cy="16896"/>
            </a:xfrm>
            <a:prstGeom prst="line">
              <a:avLst/>
            </a:prstGeom>
            <a:ln w="25400" cap="flat">
              <a:gradFill>
                <a:gsLst>
                  <a:gs pos="15000">
                    <a:srgbClr val="000B21">
                      <a:alpha val="100000"/>
                    </a:srgbClr>
                  </a:gs>
                  <a:gs pos="40000">
                    <a:srgbClr val="003F82">
                      <a:alpha val="100000"/>
                    </a:srgbClr>
                  </a:gs>
                  <a:gs pos="60000">
                    <a:srgbClr val="4CA2B5">
                      <a:alpha val="100000"/>
                    </a:srgbClr>
                  </a:gs>
                  <a:gs pos="85000">
                    <a:srgbClr val="FFD27F">
                      <a:alpha val="100000"/>
                    </a:srgbClr>
                  </a:gs>
                </a:gsLst>
                <a:lin ang="189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6E55C15F-7983-12DE-9031-099B45E36B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24108" y="0"/>
              <a:ext cx="1877704" cy="893178"/>
            </a:xfrm>
            <a:custGeom>
              <a:avLst/>
              <a:gdLst/>
              <a:ahLst/>
              <a:cxnLst/>
              <a:rect l="l" t="t" r="r" b="b"/>
              <a:pathLst>
                <a:path w="1877704" h="893178">
                  <a:moveTo>
                    <a:pt x="0" y="0"/>
                  </a:moveTo>
                  <a:lnTo>
                    <a:pt x="1877704" y="0"/>
                  </a:lnTo>
                  <a:lnTo>
                    <a:pt x="1877704" y="893178"/>
                  </a:lnTo>
                  <a:lnTo>
                    <a:pt x="0" y="89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2E53DB3C-7D5C-84D1-3EAE-4025EACACC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50314" y="446589"/>
              <a:ext cx="1829588" cy="411510"/>
            </a:xfrm>
            <a:custGeom>
              <a:avLst/>
              <a:gdLst/>
              <a:ahLst/>
              <a:cxnLst/>
              <a:rect l="l" t="t" r="r" b="b"/>
              <a:pathLst>
                <a:path w="1829588" h="411510">
                  <a:moveTo>
                    <a:pt x="0" y="0"/>
                  </a:moveTo>
                  <a:lnTo>
                    <a:pt x="1829589" y="0"/>
                  </a:lnTo>
                  <a:lnTo>
                    <a:pt x="1829589" y="411510"/>
                  </a:lnTo>
                  <a:lnTo>
                    <a:pt x="0" y="411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300" t="-503804" r="-9122" b="-225042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39275510-1E8B-EF98-D1F6-B3B7A257D4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36" y="1101711"/>
              <a:ext cx="2079882" cy="264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87"/>
                </a:lnSpc>
              </a:pPr>
              <a:r>
                <a:rPr lang="en-US" sz="1221" b="1">
                  <a:solidFill>
                    <a:srgbClr val="0F256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· OPEN CONFERENCE</a:t>
              </a:r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4098052B-FD79-B2FF-5FAC-C514484285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80994" y="1109479"/>
              <a:ext cx="1389173" cy="300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5"/>
                </a:lnSpc>
                <a:spcBef>
                  <a:spcPct val="0"/>
                </a:spcBef>
              </a:pPr>
              <a:r>
                <a:rPr lang="en-US" sz="1404" spc="130">
                  <a:solidFill>
                    <a:srgbClr val="0F256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AMS</a:t>
              </a:r>
              <a:r>
                <a:rPr lang="en-US" sz="1404" spc="13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  <a:r>
                <a:rPr lang="en-US" sz="1404" spc="130">
                  <a:solidFill>
                    <a:srgbClr val="6C359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CMU</a:t>
              </a:r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839FDFF9-7DF3-918D-3522-0856234660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65108" y="279361"/>
              <a:ext cx="797043" cy="225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4"/>
                </a:lnSpc>
              </a:pPr>
              <a:r>
                <a:rPr lang="en-US" sz="1167" b="1" i="1" spc="273">
                  <a:solidFill>
                    <a:srgbClr val="283D5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2027</a:t>
              </a:r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D04F0931-9EBD-2EF0-6646-87544CC133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53067" y="339860"/>
              <a:ext cx="865149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0B2848"/>
                  </a:solidFill>
                  <a:effectLst/>
                  <a:latin typeface="Roboto Bold"/>
                  <a:ea typeface="Roboto Bold"/>
                  <a:cs typeface="Roboto Bold"/>
                  <a:sym typeface="Roboto Bold"/>
                </a:rPr>
                <a:t>Clinical and Environmental Research Integration  </a:t>
              </a: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619BE909-20FF-3F32-8AF2-CF50E12E261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53449" y="816469"/>
              <a:ext cx="7923504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spc="-60" dirty="0">
                  <a:solidFill>
                    <a:srgbClr val="0B2848"/>
                  </a:solidFill>
                  <a:effectLst/>
                  <a:latin typeface="Roboto Bold"/>
                  <a:ea typeface="Roboto Bold"/>
                  <a:cs typeface="Roboto Bold"/>
                  <a:sym typeface="Roboto Bold"/>
                </a:rPr>
                <a:t>10 - 11 November 2026, Chiang Mai, Thailand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E1526DAA-D8C5-88FB-2EB0-FE252B57BE92}"/>
              </a:ext>
            </a:extLst>
          </p:cNvPr>
          <p:cNvSpPr txBox="1"/>
          <p:nvPr/>
        </p:nvSpPr>
        <p:spPr>
          <a:xfrm>
            <a:off x="354681" y="3505200"/>
            <a:ext cx="9601147" cy="834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Poster Preparation Guidelines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poster should be structured into the following main sections: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Results and Discussion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Please use a clear, professional font with appropriate font sizes and strong text-background contrast to ensure readability. Avoid font sizes smaller than 20 pt.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Keep the text concise and prioritize key findings and visual presentation. Posters should be prepared in 9:16 portrait format and will be displayed on a 1:3 portrait LED screen (600*2025 cm).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Please save your poster as a high-resolution,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ready-to-display PNG or JPEG 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submit it by email no later than 1 November 2026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Thank you for your cooperation.</a:t>
            </a:r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ED410E63-6A3E-9B1F-9D0D-A7269CB0F3E1}"/>
              </a:ext>
            </a:extLst>
          </p:cNvPr>
          <p:cNvSpPr txBox="1"/>
          <p:nvPr/>
        </p:nvSpPr>
        <p:spPr>
          <a:xfrm>
            <a:off x="4673659" y="892896"/>
            <a:ext cx="939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Title</a:t>
            </a:r>
            <a:endParaRPr lang="th-TH" sz="3200" b="1" dirty="0"/>
          </a:p>
        </p:txBody>
      </p:sp>
      <p:sp>
        <p:nvSpPr>
          <p:cNvPr id="27" name="กล่องข้อความ 26">
            <a:extLst>
              <a:ext uri="{FF2B5EF4-FFF2-40B4-BE49-F238E27FC236}">
                <a16:creationId xmlns:a16="http://schemas.microsoft.com/office/drawing/2014/main" id="{ECB5AD45-6AA1-7109-AAA7-9AB7ECD94694}"/>
              </a:ext>
            </a:extLst>
          </p:cNvPr>
          <p:cNvSpPr txBox="1"/>
          <p:nvPr/>
        </p:nvSpPr>
        <p:spPr>
          <a:xfrm>
            <a:off x="354681" y="1835128"/>
            <a:ext cx="96011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Presenting Author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[Co-author]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[Corresponding Author]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,*</a:t>
            </a:r>
          </a:p>
          <a:p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[Department, Institution, City, Country]</a:t>
            </a:r>
          </a:p>
          <a:p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[Department, Institution, City, Country]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*Corresponding author: [Name], [email address]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162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League Spartan</vt:lpstr>
      <vt:lpstr>Arial</vt:lpstr>
      <vt:lpstr>Roboto Bold</vt:lpstr>
      <vt:lpstr>Montserrat Bold Italics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announcement OHC2027</dc:title>
  <dc:creator>Nichakorn Satitpornbunpot</dc:creator>
  <cp:lastModifiedBy>Varis M</cp:lastModifiedBy>
  <cp:revision>22</cp:revision>
  <dcterms:created xsi:type="dcterms:W3CDTF">2006-08-16T00:00:00Z</dcterms:created>
  <dcterms:modified xsi:type="dcterms:W3CDTF">2026-10-17T11:08:29Z</dcterms:modified>
  <dc:identifier>DAHTqiuA0QY</dc:identifier>
</cp:coreProperties>
</file>